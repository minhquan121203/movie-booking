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30352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45720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264A"/>
                </a:solidFill>
              </a:defRPr>
            </a:pPr>
            <a:r>
              <a:t>Địa chỉ: Số 54 Triều Khúc, Thanh Xuân, Hà Nội       Điện thoại: (0243).854.4264       Fax: (0243).854.7965       Email: infohn@utt.edu.vn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7E25"/>
                </a:solidFill>
              </a:defRPr>
            </a:pPr>
            <a:r>
              <a:t>BÁO CÁO ĐỒ ÁN TỐT NGHIỆP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XÂY DỰNG WEBSITE ĐẶT VÉ XEM PHIM</a:t>
            </a:r>
            <a:br/>
            <a:r>
              <a:t>TRỰC TUYẾN CHO RẠP CINEBOOKING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800" b="0">
                <a:solidFill>
                  <a:srgbClr val="DCDCE6"/>
                </a:solidFill>
              </a:defRPr>
            </a:pPr>
            <a:r>
              <a:t>Sinh viên thực hiện: Kiều Minh Quân — Lớp: 73DCTT23</a:t>
            </a:r>
          </a:p>
          <a:p>
            <a:pPr algn="ctr">
              <a:spcAft>
                <a:spcPts val="1300"/>
              </a:spcAft>
              <a:defRPr sz="1800" b="0">
                <a:solidFill>
                  <a:srgbClr val="DCDCE6"/>
                </a:solidFill>
              </a:defRPr>
            </a:pPr>
            <a:r>
              <a:t>Giảng viên hướng dẫn: ThS. Nguyễn Văn Cường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01. Lý do chọn đề tài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02. Mục tiêu &amp; Phạm vi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03. Công nghệ sử dụng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04. Phân tích hệ thống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3776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05. Thiết kế cơ sở dữ liệu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06. Kiến trúc AI Chatbot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688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07. Giao diện hệ thống — Khách hàng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918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08. Giao diện hệ thống — Nhân viên &amp;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09. Kết quả kiểm thử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93776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1F264A"/>
                </a:solidFill>
              </a:defRPr>
            </a:pPr>
            <a:r>
              <a:t>10. Kết quả đạt được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VÌ SAO CHỌN ĐỀ TÀI NÀY?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94960" cy="548640"/>
          </a:xfrm>
          <a:prstGeom prst="round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VẤN ĐỀ THỰC TIỄN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Bán vé tại quầy gây ùn ứ, mất thời gian</a:t>
            </a:r>
          </a:p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Lỗi trùng ghế khi nhiều người đặt cùng lúc</a:t>
            </a:r>
          </a:p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Chưa có kênh hỗ trợ khách hàng tự động 24/7</a:t>
            </a:r>
          </a:p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Dashboard quản lý thiếu số liệu thời gian thực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54864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GIẢI PHÁP CINEBOOKING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Đặt vé online với sơ đồ ghế thời gian thực</a:t>
            </a:r>
          </a:p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Cơ chế Hold Seat bằng Redis TTL 10 phút</a:t>
            </a:r>
          </a:p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AI Chatbot Google Gemini 2.5 Flash</a:t>
            </a:r>
          </a:p>
          <a:p>
            <a:pPr algn="l">
              <a:spcAft>
                <a:spcPts val="1680"/>
              </a:spcAft>
              <a:defRPr sz="1600" b="0">
                <a:solidFill>
                  <a:srgbClr val="1E293B"/>
                </a:solidFill>
              </a:defRPr>
            </a:pPr>
            <a:r>
              <a:t>• Dashboard thống kê doanh thu bằng Recharts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MỤC TIÊU &amp; GIỚI HẠN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54864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MỤC TIÊU — 3 PHÂN HỆ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Khách hàng: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Đặt vé, chọn ghế, thanh toán (MoMo/VNPay/PayOS)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Nhận vé điện tử QR Code qua email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Nhân viên: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Soát vé bằng camera quét QR Code nhanh chóng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Quản trị viên (Admin):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Quản lý dữ liệu tập trung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Dashboard thống kê trực quan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548640"/>
          </a:xfrm>
          <a:prstGeom prst="round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GIỚI HẠN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Vận hành: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Chỉ thử nghiệm trong phạm vi vận hành 1 cụm rạp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Giữ ghế (Hold Seat):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Tối đa 10 phút/phiên giao dịch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AI Chatbot: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Chưa hỗ trợ hội thoại đa lượt phức tạp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Nền tảng: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Chỉ có phiên bản Web, chưa có Mobile App native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STACK CÔNG NGHỆ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188720"/>
            <a:ext cx="2743200" cy="50292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188720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Next.js 14 + Tailwind CSS +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2743200" cy="50292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828800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Node.js 20 + Express.js +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2743200" cy="50292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468880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MongoDB Atlas + Redis Cloud (Upstash)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08959"/>
            <a:ext cx="2743200" cy="50292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 Chatbot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108959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Google Gemini 2.5 Flash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2743200" cy="50292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Thanh toán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749039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MoMo / VNPay / PayOS (Webhook)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2743200" cy="50292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Tài liệu &amp;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389120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Swagger UI / Postman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199"/>
            <a:ext cx="2743200" cy="50292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5029199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Vercel (FE) + Render.com (BE)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</a:defRPr>
            </a:pPr>
            <a:r>
              <a:t>* Lý do chọn MongoDB: Lưu trữ sơ đồ ghế linh hoạt (Embedded Document), tối ưu tốc độ truy xuất.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PHÂN TÍCH &amp; THIẾT KẾ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94960" cy="45720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 CASE TỔNG QUÁT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50"/>
              </a:spcAft>
              <a:defRPr sz="1500" b="0">
                <a:solidFill>
                  <a:srgbClr val="1E293B"/>
                </a:solidFill>
              </a:defRPr>
            </a:pPr>
            <a:r>
              <a:t>• 3 tác nhân: Khách hàng / Nhân viên / Admin</a:t>
            </a:r>
          </a:p>
          <a:p>
            <a:pPr algn="l">
              <a:spcAft>
                <a:spcPts val="1150"/>
              </a:spcAft>
              <a:defRPr sz="1500" b="0">
                <a:solidFill>
                  <a:srgbClr val="1E293B"/>
                </a:solidFill>
              </a:defRPr>
            </a:pPr>
            <a:r>
              <a:t>• 26 Use Case phân quyền rõ ràng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4846320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_17817180404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017520"/>
            <a:ext cx="3017520" cy="36773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1371600"/>
            <a:ext cx="5394960" cy="457200"/>
          </a:xfrm>
          <a:prstGeom prst="round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CÁC LUỒNG NGHIỆP VỤ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1. Đặt vé trực tuyến</a:t>
            </a: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   • Quy trình 11 bước từ chọn phim đến thanh toán</a:t>
            </a: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2. AI Chatbot Tư Vấn</a:t>
            </a: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   • Quy trình 9 bước tương tác và xử lý ngữ cảnh</a:t>
            </a: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3. Bán vé tại quầy (POS)</a:t>
            </a: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   • Quy trình 11 bước dành cho nhân viên</a:t>
            </a: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4. Quản lý phim &amp; Lịch chiếu</a:t>
            </a:r>
          </a:p>
          <a:p>
            <a:pPr algn="l">
              <a:spcAft>
                <a:spcPts val="850"/>
              </a:spcAft>
              <a:defRPr sz="1500" b="0">
                <a:solidFill>
                  <a:srgbClr val="1E293B"/>
                </a:solidFill>
              </a:defRPr>
            </a:pPr>
            <a:r>
              <a:t>   • Các luồng CRUD và xử lý dữ liệu liên kết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THIẾT KẾ CƠ SỞ DỮ LIỆU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_1781718070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43000"/>
            <a:ext cx="3151136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4754880"/>
            <a:ext cx="11247120" cy="45720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Cấu trúc 11 Collection cốt lõi: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20"/>
              </a:spcAft>
              <a:defRPr sz="1400" b="0">
                <a:solidFill>
                  <a:srgbClr val="1E293B"/>
                </a:solidFill>
              </a:defRPr>
            </a:pPr>
            <a:r>
              <a:t>• User: Phân quyền admin/staff/user</a:t>
            </a:r>
          </a:p>
          <a:p>
            <a:pPr algn="l">
              <a:spcAft>
                <a:spcPts val="820"/>
              </a:spcAft>
              <a:defRPr sz="1400" b="0">
                <a:solidFill>
                  <a:srgbClr val="1E293B"/>
                </a:solidFill>
              </a:defRPr>
            </a:pPr>
            <a:r>
              <a:t>• Movie &amp; Category: Thông tin phim, hình ảnh Cloudinary</a:t>
            </a:r>
          </a:p>
          <a:p>
            <a:pPr algn="l">
              <a:spcAft>
                <a:spcPts val="820"/>
              </a:spcAft>
              <a:defRPr sz="1400" b="0">
                <a:solidFill>
                  <a:srgbClr val="1E293B"/>
                </a:solidFill>
              </a:defRPr>
            </a:pPr>
            <a:r>
              <a:t>• Theater &amp; Room: Cụm rạp, phòng chiếu</a:t>
            </a:r>
          </a:p>
          <a:p>
            <a:pPr algn="l">
              <a:spcAft>
                <a:spcPts val="820"/>
              </a:spcAft>
              <a:defRPr sz="1400" b="0">
                <a:solidFill>
                  <a:srgbClr val="1E293B"/>
                </a:solidFill>
              </a:defRPr>
            </a:pPr>
            <a:r>
              <a:t>• Schedule: Lịch chiếu nhúng sơ đồ ghế &amp; Redis TTL cho Hold Seat</a:t>
            </a:r>
          </a:p>
          <a:p>
            <a:pPr algn="l">
              <a:spcAft>
                <a:spcPts val="820"/>
              </a:spcAft>
              <a:defRPr sz="1400" b="0">
                <a:solidFill>
                  <a:srgbClr val="1E293B"/>
                </a:solidFill>
              </a:defRPr>
            </a:pPr>
            <a:r>
              <a:t>• Booking: Giao dịch, vé điện tử QR Code</a:t>
            </a:r>
          </a:p>
          <a:p>
            <a:pPr algn="l">
              <a:spcAft>
                <a:spcPts val="820"/>
              </a:spcAft>
              <a:defRPr sz="1400" b="0">
                <a:solidFill>
                  <a:srgbClr val="1E293B"/>
                </a:solidFill>
              </a:defRPr>
            </a:pPr>
            <a:r>
              <a:t>• Các collection khác: Product, Voucher, Review, Shift...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KIẾN TRÚC AI CHATBOT — GEMINI 2.5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9436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_1781718084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4114800" cy="50522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371600"/>
            <a:ext cx="5029200" cy="45720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QUY TRÌNH XỬ LÝ NGÔN NGỮ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1400" b="0">
                <a:solidFill>
                  <a:srgbClr val="1E293B"/>
                </a:solidFill>
              </a:defRPr>
            </a:pPr>
            <a:r>
              <a:t>1. Nhận input từ khách hàng</a:t>
            </a:r>
          </a:p>
          <a:p>
            <a:pPr algn="l">
              <a:spcAft>
                <a:spcPts val="959"/>
              </a:spcAft>
              <a:defRPr sz="1400" b="0">
                <a:solidFill>
                  <a:srgbClr val="1E293B"/>
                </a:solidFill>
              </a:defRPr>
            </a:pPr>
            <a:r>
              <a:t>2. Backend truy xuất DB lấy context thực tế</a:t>
            </a:r>
          </a:p>
          <a:p>
            <a:pPr algn="l">
              <a:spcAft>
                <a:spcPts val="959"/>
              </a:spcAft>
              <a:defRPr sz="1400" b="0">
                <a:solidFill>
                  <a:srgbClr val="1E293B"/>
                </a:solidFill>
              </a:defRPr>
            </a:pPr>
            <a:r>
              <a:t>3. Xây dựng Prompt (System + Context + User)</a:t>
            </a:r>
          </a:p>
          <a:p>
            <a:pPr algn="l">
              <a:spcAft>
                <a:spcPts val="959"/>
              </a:spcAft>
              <a:defRPr sz="1400" b="0">
                <a:solidFill>
                  <a:srgbClr val="1E293B"/>
                </a:solidFill>
              </a:defRPr>
            </a:pPr>
            <a:r>
              <a:t>4. Gọi API Gemini 2.5 Flash</a:t>
            </a:r>
          </a:p>
          <a:p>
            <a:pPr algn="l">
              <a:spcAft>
                <a:spcPts val="959"/>
              </a:spcAft>
              <a:defRPr sz="1400" b="0">
                <a:solidFill>
                  <a:srgbClr val="1E293B"/>
                </a:solidFill>
              </a:defRPr>
            </a:pPr>
            <a:r>
              <a:t>5. Parser trả kết quả cấu trúc JSON về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38912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572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7E25"/>
                </a:solidFill>
              </a:defRPr>
            </a:pPr>
            <a:r>
              <a:t>KẾT QUẢ ĐÁNH GIÁ MÔ HÌNH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9377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1400" b="0">
                <a:solidFill>
                  <a:srgbClr val="1E293B"/>
                </a:solidFill>
              </a:defRPr>
            </a:pPr>
            <a:r>
              <a:t>• Độ chính xác tư vấn: 90% (trên 40 ca test)</a:t>
            </a:r>
          </a:p>
          <a:p>
            <a:pPr algn="l">
              <a:spcAft>
                <a:spcPts val="959"/>
              </a:spcAft>
              <a:defRPr sz="1400" b="0">
                <a:solidFill>
                  <a:srgbClr val="1E293B"/>
                </a:solidFill>
              </a:defRPr>
            </a:pPr>
            <a:r>
              <a:t>• Nhận diện ngoại lệ: Từ chối 100% câu hỏi ngoài phạm vi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GIAO DIỆN HỆ THỐNG: KHÁCH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Trang chủ &amp; Danh sách phim</a:t>
            </a:r>
          </a:p>
        </p:txBody>
      </p:sp>
      <p:pic>
        <p:nvPicPr>
          <p:cNvPr id="10" name="Picture 9" descr="media__1781718118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4663440" cy="22497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18872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Sơ đồ ghế Real-time</a:t>
            </a:r>
          </a:p>
        </p:txBody>
      </p:sp>
      <p:pic>
        <p:nvPicPr>
          <p:cNvPr id="13" name="Picture 12" descr="media__1781718156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663440" cy="273703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3657600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Cổng thanh toán &amp; Vé điện tử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[Chèn ảnh chụp màn hình tương ứng]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AI Chatbot Tư Vấn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[Chèn ảnh chụp màn hình tương ứng]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GIAO DIỆN HỆ THỐNG: QUẢN TRỊ &amp; NHÂN VIÊN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949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POS Nhân viên &amp; Quét QR check-in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[Chèn ảnh chụp màn hình tương ứng]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949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Admin Dashboard: Thống kê doanh thu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[Chèn ảnh chụp màn hình tương ứng]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53949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Admin: Quản lý danh mục (Phim/Rạp/Ghế)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[Chèn ảnh chụp màn hình tương ứng]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3949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64A"/>
                </a:solidFill>
              </a:defRPr>
            </a:pPr>
            <a:r>
              <a:t>Swagger UI: Tài liệu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[Chèn ảnh chụp màn hình tương ứng]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KẾT QUẢ KIỂM THỬ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Phương pháp: Kiểm thử hộp đen — Phân vùng tương đương — Công cụ: Postman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828800"/>
            <a:ext cx="4572000" cy="54864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Chức năng kiểm thử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1828800" cy="54864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Số 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828800"/>
            <a:ext cx="3017520" cy="54864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Kết quả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468880"/>
            <a:ext cx="4572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Đặt vé online (Hold Seat)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468880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5 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468880"/>
            <a:ext cx="3017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Đạt (5/5)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063240"/>
            <a:ext cx="4572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AI Chatbot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063240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4 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063240"/>
            <a:ext cx="3017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Đạt (4/4)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657600"/>
            <a:ext cx="4572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Bán vé tại quầy (POS)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657600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4 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657600"/>
            <a:ext cx="3017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Đạt (4/4)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251960"/>
            <a:ext cx="4572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Quản lý phim (Admin)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251960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4 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251960"/>
            <a:ext cx="3017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Đạt (4/4)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846320"/>
            <a:ext cx="4572000" cy="502920"/>
          </a:xfrm>
          <a:prstGeom prst="round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TỔNG CỘNG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846320"/>
            <a:ext cx="1828800" cy="502920"/>
          </a:xfrm>
          <a:prstGeom prst="round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17 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846320"/>
            <a:ext cx="3017520" cy="502920"/>
          </a:xfrm>
          <a:prstGeom prst="round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Đạt (17/17)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486400"/>
            <a:ext cx="9418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F264A"/>
                </a:solidFill>
              </a:defRPr>
            </a:pPr>
            <a:r>
              <a:t>Tối ưu hiệu năng API: Thời gian phản hồi giảm từ ~200-300ms xuống &lt; 50ms nhờ triển khai Redis Cache và Pagination.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KẾT QUẢ ĐẠT ĐƯỢC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64A"/>
                </a:solidFill>
              </a:defRPr>
            </a:pPr>
            <a:r>
              <a:t>TRƯỜNG ĐẠI HỌC CÔNG NGHỆ GIAO THÔNG VẬN TẢI</a:t>
            </a:r>
            <a:br/>
            <a:r>
              <a:t>University Of Transport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309360"/>
            <a:ext cx="6705295" cy="27432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94960" cy="548640"/>
          </a:xfrm>
          <a:prstGeom prst="round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KẾT QUẢ ĐẠT ĐƯỢC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  <a:defRPr sz="1500" b="0">
                <a:solidFill>
                  <a:srgbClr val="1E293B"/>
                </a:solidFill>
              </a:defRPr>
            </a:pPr>
            <a:r>
              <a:t>• Hoàn thiện 3 phân hệ, triển khai thực tế trên Cloud</a:t>
            </a:r>
          </a:p>
          <a:p>
            <a:pPr algn="l">
              <a:spcAft>
                <a:spcPts val="1300"/>
              </a:spcAft>
              <a:defRPr sz="1500" b="0">
                <a:solidFill>
                  <a:srgbClr val="1E293B"/>
                </a:solidFill>
              </a:defRPr>
            </a:pPr>
            <a:r>
              <a:t>• Giữ ghế (Hold Seat) qua Redis hoạt động ổn định</a:t>
            </a:r>
          </a:p>
          <a:p>
            <a:pPr algn="l">
              <a:spcAft>
                <a:spcPts val="1300"/>
              </a:spcAft>
              <a:defRPr sz="1500" b="0">
                <a:solidFill>
                  <a:srgbClr val="1E293B"/>
                </a:solidFill>
              </a:defRPr>
            </a:pPr>
            <a:r>
              <a:t>• AI Chatbot Gemini tư vấn chính xác 90%</a:t>
            </a:r>
          </a:p>
          <a:p>
            <a:pPr algn="l">
              <a:spcAft>
                <a:spcPts val="1300"/>
              </a:spcAft>
              <a:defRPr sz="1500" b="0">
                <a:solidFill>
                  <a:srgbClr val="1E293B"/>
                </a:solidFill>
              </a:defRPr>
            </a:pPr>
            <a:r>
              <a:t>• Tích hợp thành công 3 cổng thanh toán số</a:t>
            </a:r>
          </a:p>
          <a:p>
            <a:pPr algn="l">
              <a:spcAft>
                <a:spcPts val="1300"/>
              </a:spcAft>
              <a:defRPr sz="1500" b="0">
                <a:solidFill>
                  <a:srgbClr val="1E293B"/>
                </a:solidFill>
              </a:defRPr>
            </a:pPr>
            <a:r>
              <a:t>• Hệ thống phát hành vé điện tử tự động</a:t>
            </a:r>
          </a:p>
          <a:p>
            <a:pPr algn="l">
              <a:spcAft>
                <a:spcPts val="1300"/>
              </a:spcAft>
              <a:defRPr sz="1500" b="0">
                <a:solidFill>
                  <a:srgbClr val="1E293B"/>
                </a:solidFill>
              </a:defRPr>
            </a:pPr>
            <a:r>
              <a:t>• Tối ưu tốc độ truy xuất API &lt; 50ms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548640"/>
          </a:xfrm>
          <a:prstGeom prst="round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HƯỚNG PHÁT TRIỂN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Mở rộng nền tảng: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Phát triển Mobile App Native (iOS/Android)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Nâng cấp AI: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Chatbot đa lượt, đặt vé trực tiếp qua khung chat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Hệ thống gợi ý (Recommendation):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Cá nhân hóa trải nghiệm theo hành vi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• Hạ tầng Cloud:</a:t>
            </a:r>
          </a:p>
          <a:p>
            <a:pPr algn="l">
              <a:spcAft>
                <a:spcPts val="999"/>
              </a:spcAft>
              <a:defRPr sz="1500" b="0">
                <a:solidFill>
                  <a:srgbClr val="1E293B"/>
                </a:solidFill>
              </a:defRPr>
            </a:pPr>
            <a:r>
              <a:t>  Chuyển dịch AWS/GCP, cấu hình Auto 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UNIVERSITY OF TRANSPORT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264A"/>
                </a:solidFill>
              </a:defRPr>
            </a:pPr>
            <a:r>
              <a:t>https://utt.edu.vn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303520"/>
          </a:xfrm>
          <a:prstGeom prst="rect">
            <a:avLst/>
          </a:prstGeom>
          <a:solidFill>
            <a:srgbClr val="1F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45720"/>
          </a:xfrm>
          <a:prstGeom prst="rect">
            <a:avLst/>
          </a:prstGeom>
          <a:solidFill>
            <a:srgbClr val="E2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264A"/>
                </a:solidFill>
              </a:defRPr>
            </a:pPr>
            <a:r>
              <a:t>Địa chỉ: Số 54 Triều Khúc, Thanh Xuân, Hà Nội       Điện thoại: (0243).854.4264       Fax: (0243).854.7965       Email: infohn@utt.edu.vn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27E25"/>
                </a:solidFill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XIN CHÂN THÀNH CẢM ƠN HỘI ĐỒNG</a:t>
            </a:r>
            <a:br/>
            <a:r>
              <a:t>ĐÃ LẮNG NGHE VÀ GÓP Ý!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